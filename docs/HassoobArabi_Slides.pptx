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B33"/>
              </a:gs>
              <a:gs pos="100000">
                <a:srgbClr val="152A4E"/>
              </a:gs>
            </a:gsLst>
            <a:lin ang="18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-1554480"/>
            <a:ext cx="4206240" cy="42062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097280" y="4754880"/>
            <a:ext cx="2926080" cy="2926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84124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800" b="1" i="0" dirty="0" err="1">
                <a:solidFill>
                  <a:srgbClr val="FFFFFF"/>
                </a:solidFill>
                <a:latin typeface="Calibri"/>
              </a:rPr>
              <a:t>Hassoob</a:t>
            </a:r>
            <a:r>
              <a:rPr sz="5800" b="1" i="0" dirty="0">
                <a:solidFill>
                  <a:srgbClr val="FFFFFF"/>
                </a:solidFill>
                <a:latin typeface="Calibri"/>
              </a:rPr>
              <a:t> Arabi</a:t>
            </a:r>
          </a:p>
          <a:p>
            <a:pPr algn="l" rtl="1">
              <a:spcAft>
                <a:spcPts val="1000"/>
              </a:spcAft>
            </a:pPr>
            <a:r>
              <a:rPr sz="3400" b="1" i="0" dirty="0" err="1">
                <a:solidFill>
                  <a:srgbClr val="CFEFEA"/>
                </a:solidFill>
                <a:latin typeface="Arial"/>
              </a:rPr>
              <a:t>حاسوب</a:t>
            </a:r>
            <a:r>
              <a:rPr sz="3400" b="1" i="0" dirty="0">
                <a:solidFill>
                  <a:srgbClr val="CFEFEA"/>
                </a:solidFill>
                <a:latin typeface="Arial"/>
              </a:rPr>
              <a:t> </a:t>
            </a:r>
            <a:r>
              <a:rPr sz="3400" b="1" i="0" dirty="0" err="1">
                <a:solidFill>
                  <a:srgbClr val="CFEFEA"/>
                </a:solidFill>
                <a:latin typeface="Arial"/>
              </a:rPr>
              <a:t>عربي</a:t>
            </a:r>
            <a:endParaRPr sz="3400" b="1" i="0" dirty="0">
              <a:solidFill>
                <a:srgbClr val="CFEFEA"/>
              </a:solidFill>
              <a:latin typeface="Arial"/>
            </a:endParaRPr>
          </a:p>
          <a:p>
            <a:pPr algn="l">
              <a:spcAft>
                <a:spcPts val="800"/>
              </a:spcAft>
            </a:pPr>
            <a:r>
              <a:rPr sz="2300" b="0" i="0" dirty="0">
                <a:solidFill>
                  <a:srgbClr val="C3D3E8"/>
                </a:solidFill>
                <a:latin typeface="Calibri"/>
              </a:rPr>
              <a:t>An Arabic Programming Language &amp; Compiler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977639"/>
            <a:ext cx="274320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10241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0" i="1">
                <a:solidFill>
                  <a:srgbClr val="9FB3CC"/>
                </a:solidFill>
                <a:latin typeface="Calibri"/>
              </a:rPr>
              <a:t>Compilers Course — Language Design &amp; Implementation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Calibri"/>
              </a:rPr>
              <a:t>TEAM</a:t>
            </a:r>
          </a:p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Jaafer Mahfoud     Laila Al-Abdullah     Hatem Ibrahim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0E1B33"/>
              </a:gs>
              <a:gs pos="100000">
                <a:srgbClr val="14B8A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92608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2600" b="1">
                <a:solidFill>
                  <a:srgbClr val="0E1B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288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927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274320" rtlCol="0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0F172A"/>
                </a:solidFill>
                <a:latin typeface="Calibri"/>
              </a:rPr>
              <a:t>A complete programming language written entirely in Arabic — keywords, identifiers, numerals, and even error messages — with source files using the .حع extension.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109728" cy="1051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3081527"/>
            <a:ext cx="822960" cy="8229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953512"/>
            <a:ext cx="38862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Inspired by Wolfram Mathematica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25F70"/>
                </a:solidFill>
                <a:latin typeface="Calibri"/>
              </a:rPr>
              <a:t>Symbolic math is first-class: differentiate, integrate, limits, series, solve.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8892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3081527"/>
            <a:ext cx="822960" cy="82296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١٢٣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953512"/>
            <a:ext cx="38862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Arabic-Indic numerals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25F70"/>
                </a:solidFill>
                <a:latin typeface="Calibri"/>
              </a:rPr>
              <a:t>Accepts ٠–٩ and 0–9; every value is printed in Arabic numerals.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4727448"/>
            <a:ext cx="822960" cy="82296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/>
              </a:rPr>
              <a:t>💡</a:t>
            </a:r>
            <a:endParaRPr sz="2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65960" y="4759280"/>
            <a:ext cx="3886200" cy="8233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 dirty="0">
                <a:solidFill>
                  <a:srgbClr val="0F172A"/>
                </a:solidFill>
                <a:latin typeface="Calibri"/>
              </a:rPr>
              <a:t>Friendly Arabic errors</a:t>
            </a:r>
          </a:p>
          <a:p>
            <a:pPr algn="l">
              <a:spcAft>
                <a:spcPts val="0"/>
              </a:spcAft>
            </a:pPr>
            <a:r>
              <a:rPr lang="en-US" sz="1350" b="0" i="0" dirty="0">
                <a:solidFill>
                  <a:srgbClr val="525F70"/>
                </a:solidFill>
                <a:latin typeface="Calibri"/>
              </a:rPr>
              <a:t>Friendly</a:t>
            </a:r>
            <a:r>
              <a:rPr sz="1350" b="0" i="0" dirty="0">
                <a:solidFill>
                  <a:srgbClr val="525F70"/>
                </a:solidFill>
                <a:latin typeface="Calibri"/>
              </a:rPr>
              <a:t>, fully-Arabic messages with a "did you mean…" (</a:t>
            </a:r>
            <a:r>
              <a:rPr sz="1350" b="0" i="0" dirty="0" err="1">
                <a:solidFill>
                  <a:srgbClr val="525F70"/>
                </a:solidFill>
                <a:latin typeface="Calibri"/>
              </a:rPr>
              <a:t>هل</a:t>
            </a:r>
            <a:r>
              <a:rPr sz="1350" b="0" i="0" dirty="0">
                <a:solidFill>
                  <a:srgbClr val="525F70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525F70"/>
                </a:solidFill>
                <a:latin typeface="Calibri"/>
              </a:rPr>
              <a:t>تقصد</a:t>
            </a:r>
            <a:r>
              <a:rPr sz="1350" b="0" i="0" dirty="0">
                <a:solidFill>
                  <a:srgbClr val="525F70"/>
                </a:solidFill>
                <a:latin typeface="Calibri"/>
              </a:rPr>
              <a:t>) suggestion.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43484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4727448"/>
            <a:ext cx="82296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599431"/>
            <a:ext cx="38862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Right-to-left (RTL) IDE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25F70"/>
                </a:solidFill>
                <a:latin typeface="Calibri"/>
              </a:rPr>
              <a:t>Syntax highlighting, instant run, and an interactive Arabic REPL.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25F70"/>
                </a:solidFill>
                <a:latin typeface="Calibri"/>
              </a:rPr>
              <a:t>Hassoob Arabi · حاسوب عربي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0E1B33"/>
              </a:gs>
              <a:gs pos="100000">
                <a:srgbClr val="14B8A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92608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2600" b="1">
                <a:solidFill>
                  <a:srgbClr val="0E1B3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288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Implemented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1">
                <a:solidFill>
                  <a:srgbClr val="525F70"/>
                </a:solidFill>
                <a:latin typeface="Calibri"/>
              </a:rPr>
              <a:t>A tree-walking interpreter on an ANTLR4 front end.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21992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Lexer + Parser  </a:t>
            </a:r>
            <a:r>
              <a:rPr sz="1300">
                <a:solidFill>
                  <a:srgbClr val="525F70"/>
                </a:solidFill>
                <a:latin typeface="Calibri"/>
              </a:rPr>
              <a:t>— ANTLR4 from HassoobArabi.g4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80360"/>
            <a:ext cx="201168" cy="20116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76148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AST Builder  </a:t>
            </a:r>
            <a:r>
              <a:rPr sz="1300">
                <a:solidFill>
                  <a:srgbClr val="525F70"/>
                </a:solidFill>
                <a:latin typeface="Calibri"/>
              </a:rPr>
              <a:t>— parse tree → typed AST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3872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419856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Semantic Analysis  </a:t>
            </a:r>
            <a:r>
              <a:rPr sz="1300">
                <a:solidFill>
                  <a:srgbClr val="525F70"/>
                </a:solidFill>
                <a:latin typeface="Calibri"/>
              </a:rPr>
              <a:t>— names, arity, did-you-mean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197096"/>
            <a:ext cx="201168" cy="20116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078224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Optimizer  </a:t>
            </a:r>
            <a:r>
              <a:rPr sz="1300">
                <a:solidFill>
                  <a:srgbClr val="525F70"/>
                </a:solidFill>
                <a:latin typeface="Calibri"/>
              </a:rPr>
              <a:t>— constant folding &amp; simplification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55464"/>
            <a:ext cx="201168" cy="20116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736592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Interpreter  </a:t>
            </a:r>
            <a:r>
              <a:rPr sz="1300">
                <a:solidFill>
                  <a:srgbClr val="525F70"/>
                </a:solidFill>
                <a:latin typeface="Calibri"/>
              </a:rPr>
              <a:t>— Mathematica-style scope chain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513831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59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Standard Library  </a:t>
            </a:r>
            <a:r>
              <a:rPr sz="1300">
                <a:solidFill>
                  <a:srgbClr val="525F70"/>
                </a:solidFill>
                <a:latin typeface="Calibri"/>
              </a:rPr>
              <a:t>— SymPy · NumPy · Matplotlib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554480"/>
            <a:ext cx="4572000" cy="548640"/>
          </a:xfrm>
          <a:prstGeom prst="round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source .حع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079992" y="2107691"/>
            <a:ext cx="219456" cy="182880"/>
          </a:xfrm>
          <a:prstGeom prst="downArrow">
            <a:avLst/>
          </a:prstGeom>
          <a:solidFill>
            <a:srgbClr val="B6C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03720" y="2304288"/>
            <a:ext cx="4572000" cy="54864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Lexer + Parser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079992" y="2857500"/>
            <a:ext cx="219456" cy="182880"/>
          </a:xfrm>
          <a:prstGeom prst="downArrow">
            <a:avLst/>
          </a:prstGeom>
          <a:solidFill>
            <a:srgbClr val="B6C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3054096"/>
            <a:ext cx="4572000" cy="5486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AST Builder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079992" y="3607308"/>
            <a:ext cx="219456" cy="182880"/>
          </a:xfrm>
          <a:prstGeom prst="downArrow">
            <a:avLst/>
          </a:prstGeom>
          <a:solidFill>
            <a:srgbClr val="B6C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03720" y="3803904"/>
            <a:ext cx="457200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Semantic Analysis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079992" y="4357116"/>
            <a:ext cx="219456" cy="182880"/>
          </a:xfrm>
          <a:prstGeom prst="downArrow">
            <a:avLst/>
          </a:prstGeom>
          <a:solidFill>
            <a:srgbClr val="B6C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903720" y="4553712"/>
            <a:ext cx="457200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Optimizer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9079992" y="5106924"/>
            <a:ext cx="219456" cy="182880"/>
          </a:xfrm>
          <a:prstGeom prst="downArrow">
            <a:avLst/>
          </a:prstGeom>
          <a:solidFill>
            <a:srgbClr val="B6C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903720" y="5303520"/>
            <a:ext cx="4572000" cy="54864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Interpreter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9079992" y="5856732"/>
            <a:ext cx="219456" cy="182880"/>
          </a:xfrm>
          <a:prstGeom prst="downArrow">
            <a:avLst/>
          </a:prstGeom>
          <a:solidFill>
            <a:srgbClr val="B6C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903720" y="6053328"/>
            <a:ext cx="4572000" cy="548640"/>
          </a:xfrm>
          <a:prstGeom prst="round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Output + Plots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25F70"/>
                </a:solidFill>
                <a:latin typeface="Calibri"/>
              </a:rPr>
              <a:t>Hassoob Arabi · حاسوب عربي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0E1B33"/>
              </a:gs>
              <a:gs pos="100000">
                <a:srgbClr val="14B8A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92608"/>
            <a:ext cx="566928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2600" b="1">
                <a:solidFill>
                  <a:srgbClr val="0E1B33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288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Capabilities at a Glance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8444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584448" cy="11887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29443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Symbolic Math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25F70"/>
                </a:solidFill>
                <a:latin typeface="Calibri"/>
              </a:rPr>
              <a:t>Differentiate, integrate, limits, Taylor series, solve equations.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5" y="1417320"/>
            <a:ext cx="358444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9975" y="1417320"/>
            <a:ext cx="3584448" cy="11887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00015" y="1828800"/>
            <a:ext cx="914400" cy="9144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5" y="2834640"/>
            <a:ext cx="29443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Linear Algebra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25F70"/>
                </a:solidFill>
                <a:latin typeface="Calibri"/>
              </a:rPr>
              <a:t>Matrix multiply, transpose, determinant, inverse, eigenvalues.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58444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584448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31351" y="182880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1" y="2834640"/>
            <a:ext cx="29443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Statistics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25F70"/>
                </a:solidFill>
                <a:latin typeface="Calibri"/>
              </a:rPr>
              <a:t>Mean, median, variance, std-dev, range, correlation.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87368"/>
            <a:ext cx="358444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087368"/>
            <a:ext cx="3584448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4498848"/>
            <a:ext cx="914400" cy="9144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04688"/>
            <a:ext cx="29443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Plotting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25F70"/>
                </a:solidFill>
                <a:latin typeface="Calibri"/>
              </a:rPr>
              <a:t>Functions, data points, histograms — in pop-up windows.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9975" y="4087368"/>
            <a:ext cx="358444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9975" y="4087368"/>
            <a:ext cx="3584448" cy="118872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700015" y="4498848"/>
            <a:ext cx="914400" cy="91440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5" y="5504688"/>
            <a:ext cx="29443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Full Control Flow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25F70"/>
                </a:solidFill>
                <a:latin typeface="Calibri"/>
              </a:rPr>
              <a:t>Conditionals, loops, recursion, functions &amp; lambdas.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11311" y="4087368"/>
            <a:ext cx="358444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11311" y="4087368"/>
            <a:ext cx="3584448" cy="1188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531351" y="4498848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1" y="5504688"/>
            <a:ext cx="29443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Arabic-First + RTL IDE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25F70"/>
                </a:solidFill>
                <a:latin typeface="Calibri"/>
              </a:rPr>
              <a:t>Arabic syntax &amp; numerals, friendly errors, RTL editor.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25F70"/>
                </a:solidFill>
                <a:latin typeface="Calibri"/>
              </a:rPr>
              <a:t>Hassoob Arabi · حاسوب عربي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B33"/>
              </a:gs>
              <a:gs pos="100000">
                <a:srgbClr val="152A4E"/>
              </a:gs>
            </a:gsLst>
            <a:lin ang="18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3840480" cy="38404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188720" y="5120640"/>
            <a:ext cx="3108960" cy="31089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424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Thank you!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C3D3E8"/>
                </a:solidFill>
                <a:latin typeface="Calibri"/>
              </a:rPr>
              <a:t>An Arabic programming language with a symbolic &amp; numeric math engine, an RTL IDE, and friendly Arabic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10515600" cy="1143000"/>
          </a:xfrm>
          <a:prstGeom prst="roundRect">
            <a:avLst/>
          </a:prstGeom>
          <a:solidFill>
            <a:srgbClr val="12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REPOSITORY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github.com/The-Merge-Conflict/Hassoob-Arabi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109728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4434840"/>
            <a:ext cx="10515600" cy="1143000"/>
          </a:xfrm>
          <a:prstGeom prst="roundRect">
            <a:avLst/>
          </a:prstGeom>
          <a:solidFill>
            <a:srgbClr val="12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spcAft>
                <a:spcPts val="300"/>
              </a:spcAft>
            </a:pPr>
            <a:r>
              <a:rPr sz="1300" b="1" i="0" dirty="0">
                <a:solidFill>
                  <a:srgbClr val="F59E0B"/>
                </a:solidFill>
                <a:latin typeface="Calibri"/>
              </a:rPr>
              <a:t>TEAM</a:t>
            </a:r>
          </a:p>
          <a:p>
            <a:pPr algn="l">
              <a:spcAft>
                <a:spcPts val="0"/>
              </a:spcAft>
            </a:pPr>
            <a:r>
              <a:rPr sz="2100" b="1" i="0" dirty="0" err="1">
                <a:solidFill>
                  <a:srgbClr val="FFFFFF"/>
                </a:solidFill>
                <a:latin typeface="Calibri"/>
              </a:rPr>
              <a:t>Jaafer</a:t>
            </a:r>
            <a:r>
              <a:rPr sz="2100" b="1" i="0" dirty="0">
                <a:solidFill>
                  <a:srgbClr val="FFFFFF"/>
                </a:solidFill>
                <a:latin typeface="Calibri"/>
              </a:rPr>
              <a:t> Mahfoud   ·   Laila Al-Abdullah   ·   Hatem Ibrahim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34840"/>
            <a:ext cx="109728" cy="1143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349</Words>
  <Application>Microsoft Office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</dc:creator>
  <cp:keywords/>
  <dc:description>generated using python-pptx</dc:description>
  <cp:lastModifiedBy>H</cp:lastModifiedBy>
  <cp:revision>2</cp:revision>
  <dcterms:created xsi:type="dcterms:W3CDTF">2013-01-27T09:14:16Z</dcterms:created>
  <dcterms:modified xsi:type="dcterms:W3CDTF">2026-06-25T08:40:08Z</dcterms:modified>
  <cp:category/>
</cp:coreProperties>
</file>